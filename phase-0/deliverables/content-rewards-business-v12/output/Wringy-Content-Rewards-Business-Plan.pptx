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acb726323b490d" /><Relationship Type="http://schemas.openxmlformats.org/officeDocument/2006/relationships/extended-properties" Target="/docProps/app.xml" Id="R04cf9b0ea49e4539" /><Relationship Type="http://schemas.openxmlformats.org/officeDocument/2006/relationships/officeDocument" Target="/ppt/presentation.xml" Id="Rbf9099effe53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318245f8a54ae8"/>
  </p:sldMasterIdLst>
  <p:notesMasterIdLst>
    <p:notesMasterId xmlns:r="http://schemas.openxmlformats.org/officeDocument/2006/relationships" r:id="R931c0d990a2d4f0a"/>
  </p:notesMasterIdLst>
  <p:sldIdLst>
    <p:sldId xmlns:r="http://schemas.openxmlformats.org/officeDocument/2006/relationships" id="256" r:id="R51444e0b6c9d4601"/>
    <p:sldId xmlns:r="http://schemas.openxmlformats.org/officeDocument/2006/relationships" id="257" r:id="Rcfb21d9c6b5043e3"/>
    <p:sldId xmlns:r="http://schemas.openxmlformats.org/officeDocument/2006/relationships" id="258" r:id="Rb9cb2cb5c7894a94"/>
    <p:sldId xmlns:r="http://schemas.openxmlformats.org/officeDocument/2006/relationships" id="259" r:id="Rffb57c8489bf4f93"/>
    <p:sldId xmlns:r="http://schemas.openxmlformats.org/officeDocument/2006/relationships" id="260" r:id="R2b415c2de0834b8d"/>
    <p:sldId xmlns:r="http://schemas.openxmlformats.org/officeDocument/2006/relationships" id="261" r:id="R9ab4b2fea2cc4cdf"/>
    <p:sldId xmlns:r="http://schemas.openxmlformats.org/officeDocument/2006/relationships" id="262" r:id="R0ca5ffde6aa140fe"/>
    <p:sldId xmlns:r="http://schemas.openxmlformats.org/officeDocument/2006/relationships" id="263" r:id="Rf9784fb5f9b04a00"/>
    <p:sldId xmlns:r="http://schemas.openxmlformats.org/officeDocument/2006/relationships" id="264" r:id="Re1ddbaae80cc4013"/>
    <p:sldId xmlns:r="http://schemas.openxmlformats.org/officeDocument/2006/relationships" id="265" r:id="Rb60c6a11e8fa4d36"/>
    <p:sldId xmlns:r="http://schemas.openxmlformats.org/officeDocument/2006/relationships" id="266" r:id="Re365982ed4164d59"/>
    <p:sldId xmlns:r="http://schemas.openxmlformats.org/officeDocument/2006/relationships" id="267" r:id="R8b800330b50140c3"/>
    <p:sldId xmlns:r="http://schemas.openxmlformats.org/officeDocument/2006/relationships" id="268" r:id="R2080c22920094d2f"/>
    <p:sldId xmlns:r="http://schemas.openxmlformats.org/officeDocument/2006/relationships" id="269" r:id="Rf19827a8ecad450d"/>
    <p:sldId xmlns:r="http://schemas.openxmlformats.org/officeDocument/2006/relationships" id="270" r:id="Rcec7648f06a940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5970f93b44d9b" /><Relationship Type="http://schemas.openxmlformats.org/officeDocument/2006/relationships/slideMaster" Target="/ppt/slideMasters/slideMaster1.xml" Id="R6c318245f8a54ae8" /><Relationship Type="http://schemas.openxmlformats.org/officeDocument/2006/relationships/notesMaster" Target="/ppt/notesMasters/notesMaster1.xml" Id="R931c0d990a2d4f0a" /><Relationship Type="http://schemas.openxmlformats.org/officeDocument/2006/relationships/presProps" Target="/ppt/presProps.xml" Id="Rc27f55a4f3a74b1c" /><Relationship Type="http://schemas.openxmlformats.org/officeDocument/2006/relationships/tableStyles" Target="/ppt/tableStyles.xml" Id="R43ba66845fa44abe" /><Relationship Type="http://schemas.openxmlformats.org/officeDocument/2006/relationships/slide" Target="/ppt/slides/slide1.xml" Id="R51444e0b6c9d4601" /><Relationship Type="http://schemas.openxmlformats.org/officeDocument/2006/relationships/slide" Target="/ppt/slides/slide2.xml" Id="Rcfb21d9c6b5043e3" /><Relationship Type="http://schemas.openxmlformats.org/officeDocument/2006/relationships/slide" Target="/ppt/slides/slide3.xml" Id="Rb9cb2cb5c7894a94" /><Relationship Type="http://schemas.openxmlformats.org/officeDocument/2006/relationships/slide" Target="/ppt/slides/slide4.xml" Id="Rffb57c8489bf4f93" /><Relationship Type="http://schemas.openxmlformats.org/officeDocument/2006/relationships/slide" Target="/ppt/slides/slide5.xml" Id="R2b415c2de0834b8d" /><Relationship Type="http://schemas.openxmlformats.org/officeDocument/2006/relationships/slide" Target="/ppt/slides/slide6.xml" Id="R9ab4b2fea2cc4cdf" /><Relationship Type="http://schemas.openxmlformats.org/officeDocument/2006/relationships/slide" Target="/ppt/slides/slide7.xml" Id="R0ca5ffde6aa140fe" /><Relationship Type="http://schemas.openxmlformats.org/officeDocument/2006/relationships/slide" Target="/ppt/slides/slide8.xml" Id="Rf9784fb5f9b04a00" /><Relationship Type="http://schemas.openxmlformats.org/officeDocument/2006/relationships/slide" Target="/ppt/slides/slide9.xml" Id="Re1ddbaae80cc4013" /><Relationship Type="http://schemas.openxmlformats.org/officeDocument/2006/relationships/slide" Target="/ppt/slides/slide10.xml" Id="Rb60c6a11e8fa4d36" /><Relationship Type="http://schemas.openxmlformats.org/officeDocument/2006/relationships/slide" Target="/ppt/slides/slide11.xml" Id="Re365982ed4164d59" /><Relationship Type="http://schemas.openxmlformats.org/officeDocument/2006/relationships/slide" Target="/ppt/slides/slide12.xml" Id="R8b800330b50140c3" /><Relationship Type="http://schemas.openxmlformats.org/officeDocument/2006/relationships/slide" Target="/ppt/slides/slide13.xml" Id="R2080c22920094d2f" /><Relationship Type="http://schemas.openxmlformats.org/officeDocument/2006/relationships/slide" Target="/ppt/slides/slide14.xml" Id="Rf19827a8ecad450d" /><Relationship Type="http://schemas.openxmlformats.org/officeDocument/2006/relationships/slide" Target="/ppt/slides/slide15.xml" Id="Rcec7648f06a9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6b0d74d15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c7b55a1434c55" /><Relationship Type="http://schemas.openxmlformats.org/officeDocument/2006/relationships/notesMaster" Target="/ppt/notesMasters/notesMaster1.xml" Id="R20b4c30abec5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4595a945b4607" /><Relationship Type="http://schemas.openxmlformats.org/officeDocument/2006/relationships/notesMaster" Target="/ppt/notesMasters/notesMaster1.xml" Id="R0da8d86b66e449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a0fcf8cba471c" /><Relationship Type="http://schemas.openxmlformats.org/officeDocument/2006/relationships/notesMaster" Target="/ppt/notesMasters/notesMaster1.xml" Id="R2b598264314647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6bf0e3ac9443a0" /><Relationship Type="http://schemas.openxmlformats.org/officeDocument/2006/relationships/notesMaster" Target="/ppt/notesMasters/notesMaster1.xml" Id="R9b8e27597cde41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0556c130644df" /><Relationship Type="http://schemas.openxmlformats.org/officeDocument/2006/relationships/notesMaster" Target="/ppt/notesMasters/notesMaster1.xml" Id="R668867d98f4642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d2701bcd047f3" /><Relationship Type="http://schemas.openxmlformats.org/officeDocument/2006/relationships/notesMaster" Target="/ppt/notesMasters/notesMaster1.xml" Id="R577cb29ca5734a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82c10ad89443bc" /><Relationship Type="http://schemas.openxmlformats.org/officeDocument/2006/relationships/notesMaster" Target="/ppt/notesMasters/notesMaster1.xml" Id="R67a67b2569d4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5a401d6ec44d84" /><Relationship Type="http://schemas.openxmlformats.org/officeDocument/2006/relationships/notesMaster" Target="/ppt/notesMasters/notesMaster1.xml" Id="R7d84e03ff84a4a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90aab9d6c64538" /><Relationship Type="http://schemas.openxmlformats.org/officeDocument/2006/relationships/notesMaster" Target="/ppt/notesMasters/notesMaster1.xml" Id="R634c54ef597f45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6914cbcfa5418f" /><Relationship Type="http://schemas.openxmlformats.org/officeDocument/2006/relationships/notesMaster" Target="/ppt/notesMasters/notesMaster1.xml" Id="Rfee8e2fd612442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492a810da84893" /><Relationship Type="http://schemas.openxmlformats.org/officeDocument/2006/relationships/notesMaster" Target="/ppt/notesMasters/notesMaster1.xml" Id="R7a5b01fd3c634b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076b84ff444e7c" /><Relationship Type="http://schemas.openxmlformats.org/officeDocument/2006/relationships/notesMaster" Target="/ppt/notesMasters/notesMaster1.xml" Id="R11db48722722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f5c07823c041a8" /><Relationship Type="http://schemas.openxmlformats.org/officeDocument/2006/relationships/notesMaster" Target="/ppt/notesMasters/notesMaster1.xml" Id="R2c2dc736101549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a2bc0e335c4006" /><Relationship Type="http://schemas.openxmlformats.org/officeDocument/2006/relationships/notesMaster" Target="/ppt/notesMasters/notesMaster1.xml" Id="Rabb83ef193bc47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ea152360de467f" /><Relationship Type="http://schemas.openxmlformats.org/officeDocument/2006/relationships/notesMaster" Target="/ppt/notesMasters/notesMaster1.xml" Id="R1b7e839822dd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Wringy拟从马来西亚Content Rewards业务起步。商家提供授权素材和奖励预算，内容创作者制作、发布内容，按约定结果获得奖励。服务费是拟议收入，尚无已核验客户或经营收入。 图片来源：2026-09-13 builtin image_gen虚构饮料活动照片，沿用v5/assets/brand-source.png，不代表真实客户、人物身份或已建产品。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家须确认素材许可、可修改范围和传播目标。Wringy拟由工作人员协助配置活动，Beta尚未建成。示例饮料商家不代表首批客户细分已选定，不承诺当地触达或销售。Clipping公开提供全托管商家服务，不提供自助设置。本页为Wringy提案，不是Clipping后台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https://clipping.net/brands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奖励上限2,000除以5再乘1,000=400,000。奖励率不是Wringy平台收费，也不是Clipping报价。活动仍需约定计量窗口、资格、截止及预算触顶规则。15%只基于已确认奖励，不对未使用预算计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https://clipping.net/brands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Wringy概念示例，活动与数据虚构。Wringy活动详情提案参考公开内容创作者参与模式。投稿前应说明可用平台、素材授权、计量期间及总预算限制。20,000/1,000×5=100为条件算例，不是已赚金额或已建立供给。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https://clipping.net/docs/clippers/campaign-detail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Wringy概念示例，活动与数据虚构。示例估计=22,000/1,000×5=110，未经过人工审核，仍可能调整。外部数据权限和付款路径需在试点前确认，不承诺自动API追踪或即时到账。 链接https://social.example/clip/001与账号@lime_demo是虚构占位内容，不连接真实社交账号。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https://clipping.net/docs/clippers/campaign-detail</a:t>
            </a:r>
          </a:p>
          <a:p xmlns:a="http://schemas.openxmlformats.org/drawingml/2006/main">
            <a:r>
              <a:t>https://clipping.net/policies/clipper-terms-and-conditions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Wringy概念示例，活动与数据虚构。本例2,000不计奖观看是虚构调整，不能推定现有系统能识别真人、地域或作弊。须保留依据并处理争议。确认金额后仍需执行付款，approved和paid是不同状态。 单稿已确认100来自20k合格观看，属于整场2,000奖励上限之内，不另外增加活动预算。22k拆分不代表系统可以可靠识别所有假观看。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https://clipping.net/policies/clipper-terms-and-conditions</a:t>
            </a:r>
          </a:p>
          <a:p xmlns:a="http://schemas.openxmlformats.org/drawingml/2006/main">
            <a:r>
              <a:t>https://clipping.net/brands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整场活动满额后的虚构待付款记录。累计已确认奖励RM2,000，服务费按已确认奖励的15%计算，为RM300。上一页单稿RM100包含在整场奖励内。商家应付总额RM2,300，其中奖励拟由商家直接支付或经确认的外部服务支付，不表示Wringy收取全部款项。当前已支付RM0，付款周期须事先约定。Wringy不垫付、不默认托管或自建钱包。本例未计税及外部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https://clipping.net/policies/clipper-terms-and-conditions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完成付款后的虚构结项报告，与上一页待付款状态区分。合格观看不等于去重人数、马来西亚人数、销售或投资回报，复购率未作假设。示意时间点为第1、4、7、10、14天，累计合格观看0、80,000、180,000、300,000、400,000。14天不构成活动周期或结算期限承诺。片段行说明报告包含发布记录。结构参考Clipping公开商家页的营销示意，非登录后台复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https://clipping.net/brands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统计来源：DOSM Malaysia Digital Economy 2024，2022年78,236个参与电商的经营单位，非去重商家，也非Content Rewards买家。主审2026-09-13重新核验官方页面。沿用v11模型：78,236×80%×10%=6,258.88。80%活跃调整和10%适配为代理假设，未实证验证。潜在采购方数量为情景结果。每月奖励RM2,000、持续12个月也是假设，年度奖励支出潜力RM150,213,120，不能理解为全国实测内容奖励TAM。公式按未取整6,258.88计算，正文显示约6,259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https://www.dosm.gov.my/portal-main/release-content/malaysia-digital-economy-2024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与全国市场占比脱钩，按商家数量说明服务收入。每家商家平均每月持续发生已确认奖励RM2,000，共12个月，按15%假设服务费产生RM300月服务收入和RM3,600年服务收入。50／100／300家对应年度奖励支出RM1.2m／2.4m／7.2m，Wringy年度服务收入RM180,000／360,000／1,080,000。奖励不属于Wringy收入，不对未花预算计费。所有数量、支出、全年持续性与费率均为情景条件，不是已实现客户、收入、利润或首轮2–4个月收入预测。首轮需要验证商家愿意付费、复购以及服务成本，未承诺50／100／300家目标已达成。费率沿用v5 finance/inputs.json演示费率，不修改原财务模型。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ngy拟帮助有授权素材及推广预算的商家组织内容传播。Organic在这里指创作者发布后的自然观看，不表示商家无需支付奖励或服务费。希望吸引真实相关受众，不声称系统可以保证每次观看真实或识别所有作弊。网络为参与关系示意，不代表已拥有创作者渠道、观众数量或传播成果。创办人观察马来西亚认知偏低，首批细分未选定。可沿用20次访谈、3个独立付费商家及至少1个复购的规划目标，未实现。付费试点须Beta验收、数据权限及付款路径就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5／1,000次合格观看为Wringy演示奖励率。20,000次合格观看可对应RM100，须符合规则及剩余预算。估算、确认、付款和实际到账为不同状态。本页说明拟议赚钱路径，不是已赚金额。拟通过本地创作社群、校园及短视频创作者招募，尚无已建立渠道。提供素材使用和投稿规则说明。持续参与需要后续有预算的商家活动及按约付款，不能承诺固定收入或无限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https://clipping.net/docs/clippers/campaign-detail</a:t>
            </a:r>
          </a:p>
          <a:p xmlns:a="http://schemas.openxmlformats.org/drawingml/2006/main">
            <a:r>
              <a:t>https://clipping.net/docs/clippers/payments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财务源仍为v5/finance/results.json及工作簿，未建立新模型。50,000研发上限含5,000内部预留，Belcort为创办人关联开发公司，不自聘开发；预算上限不等于已核实报价。需非受益方验收、明确源码账号归属。6,380=2,043非研发缓冲+4,337取整储备。全款到账起计时，分期到账重算。 非研发支出RM13,620包括地推4,500、运营2,400、云工具1,200、维护1,040、法务会计4,000、数据收款480。创办人薪资及津贴0。基础63,620，加非研发缓冲2,043和取整储备4,337，总计70,000。 本阶段研发与付费试点验证目标调整为2–4个月。RM70,000预算总额和用途分配沿用原预算，不因时间目标缩短而重新定价。v5工作簿是历史六个月现金流测算，尚未按2–4个月重新安排月度支出，不能当作新周期的月度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拟议RM70,000，研发上限RM50,000。本轮要观察独立商家是否愿意付款、活动能否完成、内容创作者能否提交合格内容并按约获得奖励，以及商家是否再次投放。原型、Beta、试点及复购均为计划，不表示已经完成。业务成立还须用实际收入和处理成本验证，并评估审核、付款及客户服务容量。下一轮用于全面扩张是方向，不承诺自动融资或增长。 付费试点须Beta验收及数据权限、付款路径就绪。 本阶段研发与付费试点验证以2–4个月为目标，具体进度取决于开发验收与试点准备情况。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出未来为商家提供storefront／线上店铺及其他商业工具，为内容创作者提供创作者工具。剪辑、内容管理及变现为可讨论的例子，不是承诺开发清单。商家订阅与交易收费、内容创作者订阅与增值工具收费为可能的后续平台收入，未确定价格、收费基数、推出时间或客户需求，不计入当前财务。具体交易、支付和合规安排另行确认。本页不讨论退出、估值或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083669c35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8a73714a94de8" /><Relationship Type="http://schemas.openxmlformats.org/officeDocument/2006/relationships/slideLayout" Target="/ppt/slideLayouts/slideLayout1.xml" Id="R64870ea7089749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70ea7089749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cc8fce4c14c87" /><Relationship Type="http://schemas.openxmlformats.org/officeDocument/2006/relationships/image" Target="/ppt/media/image.png" Id="Rf60abe2fcff04d12" /><Relationship Type="http://schemas.openxmlformats.org/officeDocument/2006/relationships/notesSlide" Target="/ppt/notesSlides/notesSlide1.xml" Id="Rf735b17621574093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b0cbe48610f458b" /><ns0:Relationship Type="http://schemas.openxmlformats.org/officeDocument/2006/relationships/image" Target="/ppt/media/image2.png" Id="R657584dde8de4988" /><ns0:Relationship Type="http://schemas.openxmlformats.org/officeDocument/2006/relationships/notesSlide" Target="/ppt/notesSlides/notesSlide2.xml" Id="R29216343e9004f89" /><ns0:Relationship Id="rIdSource4" Type="http://schemas.openxmlformats.org/officeDocument/2006/relationships/hyperlink" Target="https://clipping.net/brands" TargetMode="External" /></ns0: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36ea354b842ef" /><Relationship Type="http://schemas.openxmlformats.org/officeDocument/2006/relationships/notesSlide" Target="/ppt/notesSlides/notesSlide3.xml" Id="R34e521ed99504685" /></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9c77b0e33d54197" /><ns0:Relationship Type="http://schemas.openxmlformats.org/officeDocument/2006/relationships/image" Target="/ppt/media/image3.png" Id="R6f25fe95d9e04899" /><ns0:Relationship Type="http://schemas.openxmlformats.org/officeDocument/2006/relationships/notesSlide" Target="/ppt/notesSlides/notesSlide4.xml" Id="Rbac48e0fa2d44760" /><ns0:Relationship Id="rIdSource4" Type="http://schemas.openxmlformats.org/officeDocument/2006/relationships/hyperlink" Target="https://clipping.net/docs/clippers/campaign-detail" TargetMode="External" /></ns0: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58c11b3924ddb" /><Relationship Type="http://schemas.openxmlformats.org/officeDocument/2006/relationships/image" Target="/ppt/media/image4.png" Id="R17fd720ad9e343b2" /><Relationship Type="http://schemas.openxmlformats.org/officeDocument/2006/relationships/notesSlide" Target="/ppt/notesSlides/notesSlide5.xml" Id="R8e0857015ead4803" /></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dff73b174294dad" /><ns0:Relationship Type="http://schemas.openxmlformats.org/officeDocument/2006/relationships/notesSlide" Target="/ppt/notesSlides/notesSlide6.xml" Id="R18b285bfd8524cac" /><ns0:Relationship Id="rIdSource3" Type="http://schemas.openxmlformats.org/officeDocument/2006/relationships/hyperlink" Target="https://clipping.net/policies/clipper-terms-and-conditions" TargetMode="Externa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47dd63fb6dc4617" /><ns0:Relationship Type="http://schemas.openxmlformats.org/officeDocument/2006/relationships/chart" Target="/ppt/slides/charts/chart1.xml" Id="R3c8311d67d364624" /><ns0:Relationship Type="http://schemas.openxmlformats.org/officeDocument/2006/relationships/notesSlide" Target="/ppt/notesSlides/notesSlide7.xml" Id="R8289f98f02154219" /><ns0:Relationship Id="rIdSource4" Type="http://schemas.openxmlformats.org/officeDocument/2006/relationships/hyperlink" Target="https://clipping.net/docs/clippers/payments" TargetMode="External" /></ns0: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6a9b1b3ab44cc" /><Relationship Type="http://schemas.openxmlformats.org/officeDocument/2006/relationships/chart" Target="/ppt/slides/charts/chart2.xml" Id="Rb5d70a2a7a7b4e26" /><Relationship Type="http://schemas.openxmlformats.org/officeDocument/2006/relationships/image" Target="/ppt/media/image5.png" Id="Re9d8fb4ddc864cc9" /><Relationship Type="http://schemas.openxmlformats.org/officeDocument/2006/relationships/image" Target="/ppt/media/image6.png" Id="R393bed81221f4374" /><Relationship Type="http://schemas.openxmlformats.org/officeDocument/2006/relationships/notesSlide" Target="/ppt/notesSlides/notesSlide8.xml" Id="R84b45b5c4e1d40e5" /></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e1f332c894c4f4b" /><ns0:Relationship Type="http://schemas.openxmlformats.org/officeDocument/2006/relationships/notesSlide" Target="/ppt/notesSlides/notesSlide9.xml" Id="Rfd0cf9715eea411d" /><ns0:Relationship Id="rIdSource3" Type="http://schemas.openxmlformats.org/officeDocument/2006/relationships/hyperlink" Target="https://www.dosm.gov.my/portal-main/release-content/malaysia-digital-economy-2024" TargetMode="External" /></ns0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b492e51f64a3d" /><Relationship Type="http://schemas.openxmlformats.org/officeDocument/2006/relationships/chart" Target="/ppt/slides/charts/chart3.xml" Id="R9aedbf10db704add" /><Relationship Type="http://schemas.openxmlformats.org/officeDocument/2006/relationships/notesSlide" Target="/ppt/notesSlides/notesSlide10.xml" Id="R8dc87f917a7f4b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1c6be10354682" /><Relationship Type="http://schemas.openxmlformats.org/officeDocument/2006/relationships/image" Target="/ppt/media/image7.png" Id="R9ec783914dad405c" /><Relationship Type="http://schemas.openxmlformats.org/officeDocument/2006/relationships/notesSlide" Target="/ppt/notesSlides/notesSlide11.xml" Id="R7f2b231ccf89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87e33f8104d50" /><Relationship Type="http://schemas.openxmlformats.org/officeDocument/2006/relationships/image" Target="/ppt/media/image8.png" Id="R9b4d2283aea04b7c" /><Relationship Type="http://schemas.openxmlformats.org/officeDocument/2006/relationships/notesSlide" Target="/ppt/notesSlides/notesSlide12.xml" Id="R83bde7266c1e43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1a65979044fe6" /><Relationship Type="http://schemas.openxmlformats.org/officeDocument/2006/relationships/chart" Target="/ppt/slides/charts/chart4.xml" Id="Rbaad640ae8b9494d" /><Relationship Type="http://schemas.openxmlformats.org/officeDocument/2006/relationships/notesSlide" Target="/ppt/notesSlides/notesSlide13.xml" Id="R5fe34f6065084e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20585ce542f9" /><Relationship Type="http://schemas.openxmlformats.org/officeDocument/2006/relationships/notesSlide" Target="/ppt/notesSlides/notesSlide14.xml" Id="R3230153151314d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f782cd51d4253" /><Relationship Type="http://schemas.openxmlformats.org/officeDocument/2006/relationships/notesSlide" Target="/ppt/notesSlides/notesSlide15.xml" Id="Rf3240d6ee6fa49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奖励</c:v>
          </c:tx>
          <c:spPr>
            <a:solidFill xmlns:a="http://schemas.openxmlformats.org/drawingml/2006/main">
              <a:srgbClr val="173D2A"/>
            </a:solidFill>
          </c:spPr>
          <c:cat>
            <c:strRef>
              <c:f>'Chart Data'!$A$2:$A$2</c:f>
              <c:strCache>
                <c:ptCount val="1"/>
                <c:pt idx="0">
                  <c:v>商家支出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</c:ser>
        <c:ser>
          <c:idx val="1"/>
          <c:order val="1"/>
          <c:tx>
            <c:v>Wringy服务费</c:v>
          </c:tx>
          <c:spPr>
            <a:solidFill xmlns:a="http://schemas.openxmlformats.org/drawingml/2006/main">
              <a:srgbClr val="E4F222"/>
            </a:solidFill>
          </c:spPr>
          <c:cat>
            <c:strRef>
              <c:f>'Chart Data'!$C$2:$C$2</c:f>
              <c:strCache>
                <c:ptCount val="1"/>
                <c:pt idx="0">
                  <c:v>商家支出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230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累计合格观看（万次，示意）</c:v>
          </c:tx>
          <c:spPr>
            <a:solidFill xmlns:a="http://schemas.openxmlformats.org/drawingml/2006/main">
              <a:srgbClr val="173D2A"/>
            </a:solidFill>
            <a:ln xmlns:a="http://schemas.openxmlformats.org/drawingml/2006/main" w="28575">
              <a:solidFill>
                <a:srgbClr val="173D2A"/>
              </a:solidFill>
            </a:ln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第1天</c:v>
                </c:pt>
                <c:pt idx="1">
                  <c:v>第4天</c:v>
                </c:pt>
                <c:pt idx="2">
                  <c:v>第7天</c:v>
                </c:pt>
                <c:pt idx="3">
                  <c:v>第10天</c:v>
                </c:pt>
                <c:pt idx="4">
                  <c:v>第14天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18</c:v>
                </c:pt>
                <c:pt idx="3">
                  <c:v>30</c:v>
                </c:pt>
                <c:pt idx="4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0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0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年服务收入（千RM）</c:v>
          </c:tx>
          <c:spPr>
            <a:solidFill xmlns:a="http://schemas.openxmlformats.org/drawingml/2006/main">
              <a:srgbClr val="173D2A"/>
            </a:solidFill>
          </c:spPr>
          <c:cat>
            <c:strRef>
              <c:f>'Chart Data'!$A$2:$A$4</c:f>
              <c:strCache>
                <c:ptCount val="3"/>
                <c:pt idx="0">
                  <c:v>50家</c:v>
                </c:pt>
                <c:pt idx="1">
                  <c:v>100家</c:v>
                </c:pt>
                <c:pt idx="2">
                  <c:v>300家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180</c:v>
                </c:pt>
                <c:pt idx="1">
                  <c:v>360</c:v>
                </c:pt>
                <c:pt idx="2">
                  <c:v>1080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73D2A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25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E0E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资金用途RM</c:v>
          </c:tx>
          <c:dPt>
            <c:idx val="0"/>
            <c:spPr>
              <a:solidFill xmlns:a="http://schemas.openxmlformats.org/drawingml/2006/main">
                <a:srgbClr val="173D2A"/>
              </a:solidFill>
            </c:spPr>
          </c:dPt>
          <c:dPt>
            <c:idx val="1"/>
            <c:spPr>
              <a:solidFill xmlns:a="http://schemas.openxmlformats.org/drawingml/2006/main">
                <a:srgbClr val="657D70"/>
              </a:solidFill>
            </c:spPr>
          </c:dPt>
          <c:dPt>
            <c:idx val="2"/>
            <c:spPr>
              <a:solidFill xmlns:a="http://schemas.openxmlformats.org/drawingml/2006/main">
                <a:srgbClr val="E4F222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研发</c:v>
                </c:pt>
                <c:pt idx="1">
                  <c:v>非研发</c:v>
                </c:pt>
                <c:pt idx="2">
                  <c:v>储备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50000</c:v>
                </c:pt>
                <c:pt idx="1">
                  <c:v>13620</c:v>
                </c:pt>
                <c:pt idx="2">
                  <c:v>6380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0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8A98C-292F-4125-BEE7-E2A69359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abe2fcff04d12"/>
          <a:srcRect xmlns:a="http://schemas.openxmlformats.org/drawingml/2006/main" l="12130" t="0" r="12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0"/>
            <a:ext cx="77914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23835-DE3E-4070-9BDD-1431DCED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00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AD4D7-9009-4A80-B2DB-5CF93BE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"/>
            <a:ext cx="36290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Wringy商业模式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8C57C-6BC3-4179-A350-2735CD0A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360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商家付费推广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FDC59-17C1-432E-9AF3-50730E5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00400"/>
            <a:ext cx="3562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Content creator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（内容创作者）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1A274-3924-44C0-862F-46A5F668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6577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发布内容，按约获奖励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Wringy收取服务费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6B499-F9AA-4ED7-A05E-7DCF058A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857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4F22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E4F222"/>
                </a:solidFill>
                <a:latin typeface="Noto Sans SC"/>
                <a:ea typeface="Noto Sans SC"/>
                <a:cs typeface="Noto Sans SC"/>
              </a:rPr>
              <a:t>Content Rewards · Malaysia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A30E7-7B1C-4AD3-BAD0-9FBAF3C3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41032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AI示意 · 虚构饮料商家</a:t>
            </a:r>
          </a:p>
        </p:txBody>
      </p:sp>
    </p:spTree>
    <p:extLst>
      <p:ext uri="{BB962C8B-B14F-4D97-AF65-F5344CB8AC3E}">
        <p14:creationId xmlns:p14="http://schemas.microsoft.com/office/powerpoint/2010/main" val="1897074888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DB9243B-B299-4861-B58F-582130370085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商家活动简报</a:t>
            </a:r>
          </a:p>
        </p:txBody>
      </p:sp>
      <p:sp>
        <p:nvSpPr>
          <p:cNvPr id="2" name="">
            <a:extLst>
              <a:ext uri="{FF2B5EF4-FFF2-40B4-BE49-F238E27FC236}">
                <ns2:creationId id="{80604CC5-8772-40DB-91A4-82940129BBC1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CC9443C1-A585-4EFD-B342-D5F1EB4F592C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图片沿用AI示意。</a:t>
            </a:r>
          </a:p>
        </p:txBody>
      </p:sp>
      <p:sp>
        <p:nvSpPr>
          <p:cNvPr id="4" name="">
            <a:extLst>
              <a:ext uri="{FF2B5EF4-FFF2-40B4-BE49-F238E27FC236}">
                <ns2:creationId id="{C839024F-529F-41F5-881A-2324CD9CC8EE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ns2:creationId id="{60A46FA0-7C91-4865-8C86-565A32985E5F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E60627F3-6AD9-4371-AAAE-B2C4B4B3903D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B39C663B-1D01-4D01-AFC4-B952F5022ED3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4E35DDFD-8979-4F6A-BD7C-D41B65056222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AEB25817-EE12-412A-BC50-F5E351186F12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商家简报 · 工作人员协助配置</a:t>
            </a:r>
          </a:p>
        </p:txBody>
      </p:sp>
      <p:sp>
        <p:nvSpPr>
          <p:cNvPr id="10" name="">
            <a:extLst>
              <a:ext uri="{FF2B5EF4-FFF2-40B4-BE49-F238E27FC236}">
                <ns2:creationId id="{CA84525E-B6F1-4117-961F-4685886A3D47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7524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657584dde8de4988"/>
          <a:srcRect l="18011" t="0" r="18011" b="0"/>
          <a:stretch>
            <a:fillRect l="0" t="0" r="0" b="0"/>
          </a:stretch>
        </p:blipFill>
        <p:spPr>
          <a:xfrm>
            <a:off x="762000" y="3390900"/>
            <a:ext cx="2266950" cy="2362200"/>
          </a:xfrm>
          <a:prstGeom prst="rect">
            <a:avLst/>
          </a:prstGeom>
        </p:spPr>
      </p:pic>
      <p:sp>
        <p:nvSpPr>
          <p:cNvPr id="12" name="">
            <a:extLst>
              <a:ext uri="{FF2B5EF4-FFF2-40B4-BE49-F238E27FC236}">
                <ns2:creationId id="{D4A75A86-4AE8-4209-A27A-6302B7F5B7E7}"/>
              </a:ext>
            </a:extLst>
          </p:cNvPr>
          <p:cNvSpPr>
            <a:spLocks noGrp="1"/>
          </p:cNvSpPr>
          <p:nvPr/>
        </p:nvSpPr>
        <p:spPr>
          <a:xfrm>
            <a:off x="3333750" y="3400425"/>
            <a:ext cx="48101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传播目标</a:t>
            </a:r>
          </a:p>
        </p:txBody>
      </p:sp>
      <p:sp>
        <p:nvSpPr>
          <p:cNvPr id="13" name="">
            <a:extLst>
              <a:ext uri="{FF2B5EF4-FFF2-40B4-BE49-F238E27FC236}">
                <ns2:creationId id="{947702E5-F47F-439F-8C8B-5A25BCEE218C}"/>
              </a:ext>
            </a:extLst>
          </p:cNvPr>
          <p:cNvSpPr>
            <a:spLocks noGrp="1"/>
          </p:cNvSpPr>
          <p:nvPr/>
        </p:nvSpPr>
        <p:spPr>
          <a:xfrm>
            <a:off x="3333750" y="3800475"/>
            <a:ext cx="4810125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展示饮用场景与产品特点</a:t>
            </a:r>
          </a:p>
        </p:txBody>
      </p:sp>
      <p:sp>
        <p:nvSpPr>
          <p:cNvPr id="14" name="">
            <a:extLst>
              <a:ext uri="{FF2B5EF4-FFF2-40B4-BE49-F238E27FC236}">
                <ns2:creationId id="{B17D6621-9DD6-477B-A24E-645484F50685}"/>
              </a:ext>
            </a:extLst>
          </p:cNvPr>
          <p:cNvSpPr>
            <a:spLocks noGrp="1"/>
          </p:cNvSpPr>
          <p:nvPr/>
        </p:nvSpPr>
        <p:spPr>
          <a:xfrm>
            <a:off x="3333750" y="4562475"/>
            <a:ext cx="493395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EE86414B-6099-462B-B195-C4ED9D846BD3}"/>
              </a:ext>
            </a:extLst>
          </p:cNvPr>
          <p:cNvSpPr>
            <a:spLocks noGrp="1"/>
          </p:cNvSpPr>
          <p:nvPr/>
        </p:nvSpPr>
        <p:spPr>
          <a:xfrm>
            <a:off x="3333750" y="4752975"/>
            <a:ext cx="4810125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授权素材</a:t>
            </a:r>
          </a:p>
        </p:txBody>
      </p:sp>
      <p:sp>
        <p:nvSpPr>
          <p:cNvPr id="16" name="">
            <a:extLst>
              <a:ext uri="{FF2B5EF4-FFF2-40B4-BE49-F238E27FC236}">
                <ns2:creationId id="{705091FD-9683-462F-A717-1239BC701114}"/>
              </a:ext>
            </a:extLst>
          </p:cNvPr>
          <p:cNvSpPr>
            <a:spLocks noGrp="1"/>
          </p:cNvSpPr>
          <p:nvPr/>
        </p:nvSpPr>
        <p:spPr>
          <a:xfrm>
            <a:off x="3333750" y="5172075"/>
            <a:ext cx="4810125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产品视频、图片与说明</a:t>
            </a:r>
          </a:p>
        </p:txBody>
      </p:sp>
      <p:sp>
        <p:nvSpPr>
          <p:cNvPr id="17" name="">
            <a:extLst>
              <a:ext uri="{FF2B5EF4-FFF2-40B4-BE49-F238E27FC236}">
                <ns2:creationId id="{3299708A-E7E1-4BD6-A3E1-5DA915D2B4B2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传播目标</a:t>
            </a:r>
          </a:p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与素材授权</a:t>
            </a:r>
          </a:p>
        </p:txBody>
      </p:sp>
      <p:sp>
        <p:nvSpPr>
          <p:cNvPr id="18" name="">
            <a:extLst>
              <a:ext uri="{FF2B5EF4-FFF2-40B4-BE49-F238E27FC236}">
                <ns2:creationId id="{0869E9F4-A1DE-4259-8AE7-59D63CE1415D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商家交素材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团队整理简报</a:t>
            </a:r>
          </a:p>
        </p:txBody>
      </p:sp>
      <p:sp>
        <p:nvSpPr>
          <p:cNvPr id="19" name="source-link-clipping">
            <a:extLst>
              <a:ext uri="{FF2B5EF4-FFF2-40B4-BE49-F238E27FC236}">
                <ns2:creationId id="{7A5F08AC-A743-46FB-8C36-57320FCE2676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4"/>
              </a:rPr>
              <a:t>参考：Clipping公开服务说明</a:t>
            </a:r>
          </a:p>
        </p:txBody>
      </p:sp>
    </p:spTree>
    <p:extLst>
      <p:ext uri="{BB962C8B-B14F-4D97-AF65-F5344CB8AC3E}">
        <ns4:creationId val="1609400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25EAA-6285-40D6-8065-0C119A9F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奖励预算与服务费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5C74-83C9-42A0-8C1A-F64EF4E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活动开始前约定奖励上限和计费规则。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F9E80-8AFA-49AE-918C-AB6486CB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RM5为演示奖励率，400k为满额算例，非触达保证。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037E4-E180-477E-A06C-30676488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28682-F588-4D2A-8DE1-4562CFE9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80581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9059D-5A27-43CD-B422-5EDD749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399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E03EF-DD3E-47CC-AAC4-51EFF244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9D194-247D-4585-8C48-CF3DD35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933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3CE77-090F-47C0-AE11-A489235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145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商家确认 · 奖励与预算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B988C-4190-44D9-B597-9171CC1A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17D28-6FC8-493C-81C9-0A1489F1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AB445-EA7F-477A-961D-4D0E63E4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4194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RM2,000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7CC20-8A61-439E-BB2C-FD6E98C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57575"/>
            <a:ext cx="3533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每1,000次合格观看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15973-1859-4AB9-BFA3-13D3890A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7625"/>
            <a:ext cx="3533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7C5F3-B8BE-4F46-8355-CBC627D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71CC6-38DE-45B5-BF11-B87262A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满额算例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7703E-FC0A-4CA2-8E82-CCAE354B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7429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400,000 次合格观看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DF9C-2D92-4758-B6E1-833FD77B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6289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服务费计法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1C76C-E5EA-4B98-917E-55518328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628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外加服务费提案</a:t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已确认奖励 × 15%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未使用预算不计费。</a:t>
            </a:r>
          </a:p>
        </p:txBody>
      </p:sp>
    </p:spTree>
    <p:extLst>
      <p:ext uri="{BB962C8B-B14F-4D97-AF65-F5344CB8AC3E}">
        <p14:creationId xmlns:p14="http://schemas.microsoft.com/office/powerpoint/2010/main" val="81370169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251829CC-B26A-49C9-8CEA-5FC6BFCC5557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内容创作者挑选活动</a:t>
            </a:r>
          </a:p>
        </p:txBody>
      </p:sp>
      <p:sp>
        <p:nvSpPr>
          <p:cNvPr id="2" name="">
            <a:extLst>
              <a:ext uri="{FF2B5EF4-FFF2-40B4-BE49-F238E27FC236}">
                <ns2:creationId id="{14F8F53E-D5B0-4CBE-9F8F-92F23C41E172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B097A478-48C3-4F85-9648-E63C5577C1BB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收益算例须满足规则及预算条件，不保证个人收入。</a:t>
            </a:r>
          </a:p>
        </p:txBody>
      </p:sp>
      <p:sp>
        <p:nvSpPr>
          <p:cNvPr id="4" name="">
            <a:extLst>
              <a:ext uri="{FF2B5EF4-FFF2-40B4-BE49-F238E27FC236}">
                <ns2:creationId id="{12E24824-E074-48CF-A26B-40F3C591A954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ns2:creationId id="{55BD92F6-B4D0-4038-9B88-EE2DA98389C4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AAFCF8F1-BB7B-497C-881D-5D45AC6BCB8D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E74352E6-5489-443F-A0FF-F2B07CCE6D2C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F98F4B5D-4BCC-42D2-83B6-F41C0323BB9F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BF11D915-8F92-4B47-9991-7D326BD22999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内容创作者 · 活动详情</a:t>
            </a:r>
          </a:p>
        </p:txBody>
      </p:sp>
      <p:pic>
        <p:nvPicPr>
          <p:cNvPr id="30" name=""/>
          <p:cNvPicPr>
            <a:picLocks noChangeAspect="1"/>
          </p:cNvPicPr>
          <p:nvPr/>
        </p:nvPicPr>
        <p:blipFill>
          <a:blip r:embed="R6f25fe95d9e04899"/>
          <a:srcRect l="26761" t="0" r="26761" b="0"/>
          <a:stretch>
            <a:fillRect l="0" t="0" r="0" b="0"/>
          </a:stretch>
        </p:blipFill>
        <p:spPr>
          <a:xfrm>
            <a:off x="762000" y="2752725"/>
            <a:ext cx="2105025" cy="3019425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DA961D64-A765-484A-A67E-FF69487BCE33}"/>
              </a:ext>
            </a:extLst>
          </p:cNvPr>
          <p:cNvSpPr>
            <a:spLocks noGrp="1"/>
          </p:cNvSpPr>
          <p:nvPr/>
        </p:nvSpPr>
        <p:spPr>
          <a:xfrm>
            <a:off x="3143250" y="2695575"/>
            <a:ext cx="51625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2" name="">
            <a:extLst>
              <a:ext uri="{FF2B5EF4-FFF2-40B4-BE49-F238E27FC236}">
                <ns2:creationId id="{25F3D24B-7B93-4CBF-B2C8-D12944FDB6DF}"/>
              </a:ext>
            </a:extLst>
          </p:cNvPr>
          <p:cNvSpPr>
            <a:spLocks noGrp="1"/>
          </p:cNvSpPr>
          <p:nvPr/>
        </p:nvSpPr>
        <p:spPr>
          <a:xfrm>
            <a:off x="3143250" y="3495675"/>
            <a:ext cx="516255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RM5 / 1,000次合格观看</a:t>
            </a:r>
          </a:p>
        </p:txBody>
      </p:sp>
      <p:sp>
        <p:nvSpPr>
          <p:cNvPr id="13" name="">
            <a:extLst>
              <a:ext uri="{FF2B5EF4-FFF2-40B4-BE49-F238E27FC236}">
                <ns2:creationId id="{A24F129E-3960-477C-A093-4493A1A9D14C}"/>
              </a:ext>
            </a:extLst>
          </p:cNvPr>
          <p:cNvSpPr>
            <a:spLocks noGrp="1"/>
          </p:cNvSpPr>
          <p:nvPr/>
        </p:nvSpPr>
        <p:spPr>
          <a:xfrm>
            <a:off x="3143250" y="4105275"/>
            <a:ext cx="5162550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活动奖励上限 RM2,000</a:t>
            </a:r>
          </a:p>
        </p:txBody>
      </p:sp>
      <p:sp>
        <p:nvSpPr>
          <p:cNvPr id="14" name="">
            <a:extLst>
              <a:ext uri="{FF2B5EF4-FFF2-40B4-BE49-F238E27FC236}">
                <ns2:creationId id="{128C40D1-1862-4652-9FB1-875A0F65BBB8}"/>
              </a:ext>
            </a:extLst>
          </p:cNvPr>
          <p:cNvSpPr>
            <a:spLocks noGrp="1"/>
          </p:cNvSpPr>
          <p:nvPr/>
        </p:nvSpPr>
        <p:spPr>
          <a:xfrm>
            <a:off x="3143250" y="4772025"/>
            <a:ext cx="512445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9353A448-7D88-46CD-A7FD-E6CB573BC8AE}"/>
              </a:ext>
            </a:extLst>
          </p:cNvPr>
          <p:cNvSpPr>
            <a:spLocks noGrp="1"/>
          </p:cNvSpPr>
          <p:nvPr/>
        </p:nvSpPr>
        <p:spPr>
          <a:xfrm>
            <a:off x="3143250" y="4953000"/>
            <a:ext cx="5162550" cy="371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授权素材与发布要求</a:t>
            </a:r>
          </a:p>
        </p:txBody>
      </p:sp>
      <p:sp>
        <p:nvSpPr>
          <p:cNvPr id="16" name="">
            <a:extLst>
              <a:ext uri="{FF2B5EF4-FFF2-40B4-BE49-F238E27FC236}">
                <ns2:creationId id="{CAB1CF1F-0BFF-4B20-A65B-4313E72CD347}"/>
              </a:ext>
            </a:extLst>
          </p:cNvPr>
          <p:cNvSpPr>
            <a:spLocks noGrp="1"/>
          </p:cNvSpPr>
          <p:nvPr/>
        </p:nvSpPr>
        <p:spPr>
          <a:xfrm>
            <a:off x="3143250" y="5381625"/>
            <a:ext cx="2505075" cy="46672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A89033BE-8C6F-4AAF-9166-05664477785B}"/>
              </a:ext>
            </a:extLst>
          </p:cNvPr>
          <p:cNvSpPr>
            <a:spLocks noGrp="1"/>
          </p:cNvSpPr>
          <p:nvPr/>
        </p:nvSpPr>
        <p:spPr>
          <a:xfrm>
            <a:off x="3276600" y="5429250"/>
            <a:ext cx="2238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查看素材与规则</a:t>
            </a:r>
          </a:p>
        </p:txBody>
      </p:sp>
      <p:sp>
        <p:nvSpPr>
          <p:cNvPr id="18" name="">
            <a:extLst>
              <a:ext uri="{FF2B5EF4-FFF2-40B4-BE49-F238E27FC236}">
                <ns2:creationId id="{C0C4078B-256E-4253-9A75-CBE31FDC72E0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参与条件</a:t>
            </a:r>
          </a:p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与报酬</a:t>
            </a:r>
          </a:p>
        </p:txBody>
      </p:sp>
      <p:sp>
        <p:nvSpPr>
          <p:cNvPr id="19" name="">
            <a:extLst>
              <a:ext uri="{FF2B5EF4-FFF2-40B4-BE49-F238E27FC236}">
                <ns2:creationId id="{9F513D8D-FB96-4AD1-BF8D-C94F113C64FC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20,000次合格观看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可对应 RM100</a:t>
            </a:r>
          </a:p>
          <a:p>
            <a:r>
              <a:t/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奖励须符合规则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及活动预算限制。</a:t>
            </a:r>
          </a:p>
        </p:txBody>
      </p:sp>
      <p:sp>
        <p:nvSpPr>
          <p:cNvPr id="20" name="source-link-clipper">
            <a:extLst>
              <a:ext uri="{FF2B5EF4-FFF2-40B4-BE49-F238E27FC236}">
                <ns2:creationId id="{68C9BDFC-0D1B-4F5D-A8DC-9BAE705CB308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4"/>
              </a:rPr>
              <a:t>参考：活动参与说明</a:t>
            </a:r>
          </a:p>
        </p:txBody>
      </p:sp>
    </p:spTree>
    <p:extLst>
      <p:ext uri="{BB962C8B-B14F-4D97-AF65-F5344CB8AC3E}">
        <ns4:creationId val="1973945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AF51A-A273-4FA8-8026-231DAE3D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投稿与奖励估算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95310-EF52-4E7C-B437-6012DE5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DF6DD-9332-469D-BBAA-CDC3C47B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Wringy概念演示，虚构活动与数据。 估计金额不等于已确认奖励，更不等于已付款。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6CD57-DD5E-431F-A14A-40E49932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F1CBB-C85E-45A7-968F-576F49F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80581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E74E-4515-46C5-9161-C1E28A96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399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5979-91CC-46EE-B526-F802C024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020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FB8F4-60E0-48DE-8AAC-8AC4B40B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1933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C38D9-08BB-467D-9B83-791FEEC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1455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内容创作者 · 我的投稿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728C0-87A3-4624-8F38-77BA6CA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75152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43A5E-4E36-46D5-B14F-A3807AE8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52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公开视频链接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9E307-1CCD-4460-A381-3168729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7505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CA45F-BD61-4E51-96CE-9D1BF90A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861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https://social.example/clip/001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d720ad9e343b2"/>
          <a:srcRect xmlns:a="http://schemas.openxmlformats.org/drawingml/2006/main" l="26344" t="0" r="26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4286250"/>
            <a:ext cx="1047750" cy="1476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91E14-E25F-4C1B-AE33-08BE9129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257675"/>
            <a:ext cx="6067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片段01 · @lime_demo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AA8B2-9AD6-4B1E-9E79-53612002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695825"/>
            <a:ext cx="2867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观看记录 · 待核验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E3C0-FEFF-4C83-AB34-5536E3F0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095875"/>
            <a:ext cx="2867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22,000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54595-2C65-4FBB-B70C-B71C2F3B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95825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估计奖励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83FB6-2945-44EE-9922-91ED67B1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95875"/>
            <a:ext cx="2924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RM110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4F55C-C7F6-418D-B861-AA589351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43550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待审核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8DAE7-2910-4532-A36B-F61DDF2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47900"/>
            <a:ext cx="26289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投稿待审核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6D315-F254-40CE-979D-08A53347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29025"/>
            <a:ext cx="26289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金额为估算，</a:t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经审核后确认。</a:t>
            </a:r>
          </a:p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当前尚未付款。</a:t>
            </a:r>
          </a:p>
        </p:txBody>
      </p:sp>
    </p:spTree>
    <p:extLst>
      <p:ext uri="{BB962C8B-B14F-4D97-AF65-F5344CB8AC3E}">
        <p14:creationId xmlns:p14="http://schemas.microsoft.com/office/powerpoint/2010/main" val="1092618247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53644ABB-CA5F-4223-9DEE-ECB1DA9FF498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观看核验与奖励确认</a:t>
            </a:r>
          </a:p>
        </p:txBody>
      </p:sp>
      <p:sp>
        <p:nvSpPr>
          <p:cNvPr id="2" name="">
            <a:extLst>
              <a:ext uri="{FF2B5EF4-FFF2-40B4-BE49-F238E27FC236}">
                <ns2:creationId id="{A32523EE-7462-44B8-8D90-A3B663AB3182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6B4A1ED6-C985-4BF0-A563-646267CEBCC4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Wringy概念演示，虚构核验示例。20k合格观看对应RM100，仍受活动总预算限制。</a:t>
            </a:r>
          </a:p>
        </p:txBody>
      </p:sp>
      <p:sp>
        <p:nvSpPr>
          <p:cNvPr id="4" name="">
            <a:extLst>
              <a:ext uri="{FF2B5EF4-FFF2-40B4-BE49-F238E27FC236}">
                <ns2:creationId id="{48886F83-2F7A-4691-AFC0-4CF130B59B53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>
              <a:ext uri="{FF2B5EF4-FFF2-40B4-BE49-F238E27FC236}">
                <ns2:creationId id="{E6A804FF-E2D2-4B5E-8E11-B4AA65574AE1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08A723B8-5694-4679-A142-0D6B964B9A3A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BA8F5050-94C0-49FD-9288-2F2CE08E344F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3BEA109F-4711-4B7B-A299-3A778A57C1C7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F6A93435-6248-4093-88A1-673EBA903EB4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运营 · 人工核验记录</a:t>
            </a:r>
          </a:p>
        </p:txBody>
      </p:sp>
      <p:sp>
        <p:nvSpPr>
          <p:cNvPr id="10" name="">
            <a:extLst>
              <a:ext uri="{FF2B5EF4-FFF2-40B4-BE49-F238E27FC236}">
                <ns2:creationId id="{1BC56E94-02D5-424B-9413-1CACE2673F1F}"/>
              </a:ext>
            </a:extLst>
          </p:cNvPr>
          <p:cNvSpPr>
            <a:spLocks noGrp="1"/>
          </p:cNvSpPr>
          <p:nvPr/>
        </p:nvSpPr>
        <p:spPr>
          <a:xfrm>
            <a:off x="762000" y="2695575"/>
            <a:ext cx="75247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单条投稿核验</a:t>
            </a:r>
          </a:p>
        </p:txBody>
      </p:sp>
      <p:sp>
        <p:nvSpPr>
          <p:cNvPr id="11" name="">
            <a:extLst>
              <a:ext uri="{FF2B5EF4-FFF2-40B4-BE49-F238E27FC236}">
                <ns2:creationId id="{BF2D8CC2-E67E-4022-91F0-2159F059BB15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7524750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待核验观看 22,000</a:t>
            </a:r>
          </a:p>
        </p:txBody>
      </p:sp>
      <p:sp>
        <p:nvSpPr>
          <p:cNvPr id="12" name="">
            <a:extLst>
              <a:ext uri="{FF2B5EF4-FFF2-40B4-BE49-F238E27FC236}">
                <ns2:creationId id="{41D50903-EF75-4A56-BDD7-0F1DBF2658C7}"/>
              </a:ext>
            </a:extLst>
          </p:cNvPr>
          <p:cNvSpPr>
            <a:spLocks noGrp="1"/>
          </p:cNvSpPr>
          <p:nvPr/>
        </p:nvSpPr>
        <p:spPr>
          <a:xfrm>
            <a:off x="762000" y="3971925"/>
            <a:ext cx="750570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3" name="">
            <a:extLst>
              <a:ext uri="{FF2B5EF4-FFF2-40B4-BE49-F238E27FC236}">
                <ns2:creationId id="{19E9F499-DD5B-4C0C-8E3A-7D4A4EB3E099}"/>
              </a:ext>
            </a:extLst>
          </p:cNvPr>
          <p:cNvSpPr>
            <a:spLocks noGrp="1"/>
          </p:cNvSpPr>
          <p:nvPr/>
        </p:nvSpPr>
        <p:spPr>
          <a:xfrm>
            <a:off x="762000" y="42005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合格观看</a:t>
            </a:r>
          </a:p>
        </p:txBody>
      </p:sp>
      <p:sp>
        <p:nvSpPr>
          <p:cNvPr id="14" name="">
            <a:extLst>
              <a:ext uri="{FF2B5EF4-FFF2-40B4-BE49-F238E27FC236}">
                <ns2:creationId id="{5BE6E4CC-696A-4477-9D66-7BD45DB20984}"/>
              </a:ext>
            </a:extLst>
          </p:cNvPr>
          <p:cNvSpPr>
            <a:spLocks noGrp="1"/>
          </p:cNvSpPr>
          <p:nvPr/>
        </p:nvSpPr>
        <p:spPr>
          <a:xfrm>
            <a:off x="762000" y="4600575"/>
            <a:ext cx="34290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20,000</a:t>
            </a:r>
          </a:p>
        </p:txBody>
      </p:sp>
      <p:sp>
        <p:nvSpPr>
          <p:cNvPr id="15" name="">
            <a:extLst>
              <a:ext uri="{FF2B5EF4-FFF2-40B4-BE49-F238E27FC236}">
                <ns2:creationId id="{2DB8EAAB-D531-4BC1-AF57-31DE922E49FA}"/>
              </a:ext>
            </a:extLst>
          </p:cNvPr>
          <p:cNvSpPr>
            <a:spLocks noGrp="1"/>
          </p:cNvSpPr>
          <p:nvPr/>
        </p:nvSpPr>
        <p:spPr>
          <a:xfrm>
            <a:off x="4714875" y="4200525"/>
            <a:ext cx="3524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不计奖观看</a:t>
            </a:r>
          </a:p>
        </p:txBody>
      </p:sp>
      <p:sp>
        <p:nvSpPr>
          <p:cNvPr id="16" name="">
            <a:extLst>
              <a:ext uri="{FF2B5EF4-FFF2-40B4-BE49-F238E27FC236}">
                <ns2:creationId id="{829DD88D-6872-4BF0-A344-2672E743E2D1}"/>
              </a:ext>
            </a:extLst>
          </p:cNvPr>
          <p:cNvSpPr>
            <a:spLocks noGrp="1"/>
          </p:cNvSpPr>
          <p:nvPr/>
        </p:nvSpPr>
        <p:spPr>
          <a:xfrm>
            <a:off x="4714875" y="4600575"/>
            <a:ext cx="3524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2,000</a:t>
            </a:r>
          </a:p>
        </p:txBody>
      </p:sp>
      <p:sp>
        <p:nvSpPr>
          <p:cNvPr id="17" name="">
            <a:extLst>
              <a:ext uri="{FF2B5EF4-FFF2-40B4-BE49-F238E27FC236}">
                <ns2:creationId id="{BED3CF25-A073-487D-BE1C-10E605280D4C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4371975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已确认奖励 RM100</a:t>
            </a:r>
          </a:p>
        </p:txBody>
      </p:sp>
      <p:sp>
        <p:nvSpPr>
          <p:cNvPr id="18" name="">
            <a:extLst>
              <a:ext uri="{FF2B5EF4-FFF2-40B4-BE49-F238E27FC236}">
                <ns2:creationId id="{CE45D2C0-3FD7-4468-9BFE-A8DC428A2963}"/>
              </a:ext>
            </a:extLst>
          </p:cNvPr>
          <p:cNvSpPr>
            <a:spLocks noGrp="1"/>
          </p:cNvSpPr>
          <p:nvPr/>
        </p:nvSpPr>
        <p:spPr>
          <a:xfrm>
            <a:off x="5400675" y="5429250"/>
            <a:ext cx="2809875" cy="447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已支付 RM0</a:t>
            </a:r>
          </a:p>
        </p:txBody>
      </p:sp>
      <p:sp>
        <p:nvSpPr>
          <p:cNvPr id="19" name="">
            <a:extLst>
              <a:ext uri="{FF2B5EF4-FFF2-40B4-BE49-F238E27FC236}">
                <ns2:creationId id="{C090FFCC-4831-4BC9-AEBC-24CE2C44D77E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人工核验结果</a:t>
            </a:r>
          </a:p>
        </p:txBody>
      </p:sp>
      <p:sp>
        <p:nvSpPr>
          <p:cNvPr id="20" name="">
            <a:extLst>
              <a:ext uri="{FF2B5EF4-FFF2-40B4-BE49-F238E27FC236}">
                <ns2:creationId id="{FED08F2D-ECD7-46DC-BE59-51CFDD8405B6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按活动规则核验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不承诺自动识别作弊</a:t>
            </a:r>
          </a:p>
          <a:p>
            <a:r>
              <a:t/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奖励已确认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尚待付款</a:t>
            </a:r>
          </a:p>
        </p:txBody>
      </p:sp>
      <p:sp>
        <p:nvSpPr>
          <p:cNvPr id="21" name="source-link-terms">
            <a:extLst>
              <a:ext uri="{FF2B5EF4-FFF2-40B4-BE49-F238E27FC236}">
                <ns2:creationId id="{6B18662C-3EBD-4799-BD89-56CCA5208ECB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3"/>
              </a:rPr>
              <a:t>参考：内容创作者条款</a:t>
            </a:r>
          </a:p>
        </p:txBody>
      </p:sp>
    </p:spTree>
    <p:extLst>
      <p:ext uri="{BB962C8B-B14F-4D97-AF65-F5344CB8AC3E}">
        <ns4:creationId val="135255290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">
            <a:extLst>
              <a:ext uri="{FF2B5EF4-FFF2-40B4-BE49-F238E27FC236}">
                <ns2:creationId id="{A17A0E2B-2C20-4A39-BABB-FF2161C5EAF0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活动结算与服务收入</a:t>
            </a:r>
          </a:p>
        </p:txBody>
      </p:sp>
      <p:sp>
        <p:nvSpPr>
          <p:cNvPr id="2" name="">
            <a:extLst>
              <a:ext uri="{FF2B5EF4-FFF2-40B4-BE49-F238E27FC236}">
                <ns2:creationId id="{7519D63B-A24D-41F6-B10A-F2F89D8E7522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t/>
            </a:r>
          </a:p>
        </p:txBody>
      </p:sp>
      <p:sp>
        <p:nvSpPr>
          <p:cNvPr id="3" name="">
            <a:extLst>
              <a:ext uri="{FF2B5EF4-FFF2-40B4-BE49-F238E27FC236}">
                <ns2:creationId id="{C7372CA9-49A7-4431-9811-D08DDC53FDDA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虚构活动示例。商家直接付奖或使用经确认的外部服务，奖励不计Wringy收入。</a:t>
            </a:r>
          </a:p>
        </p:txBody>
      </p:sp>
      <p:sp>
        <p:nvSpPr>
          <p:cNvPr id="4" name="">
            <a:extLst>
              <a:ext uri="{FF2B5EF4-FFF2-40B4-BE49-F238E27FC236}">
                <ns2:creationId id="{EF45B1D0-7921-4D1B-88ED-A073DA5C27B4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>
              <a:ext uri="{FF2B5EF4-FFF2-40B4-BE49-F238E27FC236}">
                <ns2:creationId id="{CDB31104-77C5-4CC6-B907-1C821CC387B2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8058150" cy="402907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00CC2045-A0FD-4E0C-8E4C-D98FFD3E5E52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39909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" name="">
            <a:extLst>
              <a:ext uri="{FF2B5EF4-FFF2-40B4-BE49-F238E27FC236}">
                <ns2:creationId id="{F1085559-A9E0-4DC0-B29B-7A363EDADBBA}"/>
              </a:ext>
            </a:extLst>
          </p:cNvPr>
          <p:cNvSpPr>
            <a:spLocks noGrp="1"/>
          </p:cNvSpPr>
          <p:nvPr/>
        </p:nvSpPr>
        <p:spPr>
          <a:xfrm>
            <a:off x="552450" y="2028825"/>
            <a:ext cx="8020050" cy="485775"/>
          </a:xfrm>
          <a:prstGeom prst="rect">
            <a:avLst/>
          </a:prstGeom>
          <a:solidFill>
            <a:srgbClr val="173D2A"/>
          </a:solidFill>
          <a:ln w="0">
            <a:noFill/>
          </a:ln>
        </p:spPr>
      </p:sp>
      <p:sp>
        <p:nvSpPr>
          <p:cNvPr id="8" name="">
            <a:extLst>
              <a:ext uri="{FF2B5EF4-FFF2-40B4-BE49-F238E27FC236}">
                <ns2:creationId id="{CDFC8774-FFEE-4AD5-AD10-675DE4121F21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>
              <a:ext uri="{FF2B5EF4-FFF2-40B4-BE49-F238E27FC236}">
                <ns2:creationId id="{874EE3C3-71F3-45DA-B4B5-6974E9974FB7}"/>
              </a:ext>
            </a:extLst>
          </p:cNvPr>
          <p:cNvSpPr>
            <a:spLocks noGrp="1"/>
          </p:cNvSpPr>
          <p:nvPr/>
        </p:nvSpPr>
        <p:spPr>
          <a:xfrm>
            <a:off x="3305175" y="2114550"/>
            <a:ext cx="50292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 · 活动支出示例</a:t>
            </a:r>
          </a:p>
        </p:txBody>
      </p:sp>
      <p:sp>
        <p:nvSpPr>
          <p:cNvPr id="10" name="">
            <a:extLst>
              <a:ext uri="{FF2B5EF4-FFF2-40B4-BE49-F238E27FC236}">
                <ns2:creationId id="{30CB66D1-B386-4FE7-8EB2-D8CE9D595B24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52475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>
              <a:ext uri="{FF2B5EF4-FFF2-40B4-BE49-F238E27FC236}">
                <ns2:creationId id="{4AF34994-AEC9-4397-94B4-E4A0343A8C12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75247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已确认合格观看 400,000</a:t>
            </a:r>
          </a:p>
        </p:txBody>
      </p:sp>
      <p:sp>
        <p:nvSpPr>
          <p:cNvPr id="12" name="">
            <a:extLst>
              <a:ext uri="{FF2B5EF4-FFF2-40B4-BE49-F238E27FC236}">
                <ns2:creationId id="{26496EA4-C4AA-4313-9E23-25FA674FBF4E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商家应付奖励 RM2,000</a:t>
            </a:r>
          </a:p>
        </p:txBody>
      </p:sp>
      <p:sp>
        <p:nvSpPr>
          <p:cNvPr id="13" name="">
            <a:extLst>
              <a:ext uri="{FF2B5EF4-FFF2-40B4-BE49-F238E27FC236}">
                <ns2:creationId id="{DDDDE633-4B2E-4321-A165-4CF650401C41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7524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Wringy服务费 RM300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752475" y="4953000"/>
          <a:ext cx="7524750" cy="542925"/>
        </p:xfrm>
        <a:graphic>
          <a:graphicData uri="http://schemas.openxmlformats.org/drawingml/2006/chart">
            <ns3:chart r:id="R3c8311d67d364624"/>
          </a:graphicData>
        </a:graphic>
      </p:graphicFrame>
      <p:sp>
        <p:nvSpPr>
          <p:cNvPr id="15" name="">
            <a:extLst>
              <a:ext uri="{FF2B5EF4-FFF2-40B4-BE49-F238E27FC236}">
                <ns2:creationId id="{BF7423C5-595A-4087-9C1E-6BD7A1FBBF2E}"/>
              </a:ext>
            </a:extLst>
          </p:cNvPr>
          <p:cNvSpPr>
            <a:spLocks noGrp="1"/>
          </p:cNvSpPr>
          <p:nvPr/>
        </p:nvSpPr>
        <p:spPr>
          <a:xfrm>
            <a:off x="762000" y="5534025"/>
            <a:ext cx="75247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商家活动总支出 RM2,300</a:t>
            </a:r>
          </a:p>
        </p:txBody>
      </p:sp>
      <p:sp>
        <p:nvSpPr>
          <p:cNvPr id="16" name="">
            <a:extLst>
              <a:ext uri="{FF2B5EF4-FFF2-40B4-BE49-F238E27FC236}">
                <ns2:creationId id="{2FB4D2FB-3C07-4D1C-827D-E044244C1E2F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62890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全活动</a:t>
            </a:r>
          </a:p>
          <a:p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奖励合计</a:t>
            </a:r>
          </a:p>
        </p:txBody>
      </p:sp>
      <p:sp>
        <p:nvSpPr>
          <p:cNvPr id="17" name="">
            <a:extLst>
              <a:ext uri="{FF2B5EF4-FFF2-40B4-BE49-F238E27FC236}">
                <ns2:creationId id="{246EA7E9-DB4D-4757-BB0B-12ADB632605F}"/>
              </a:ext>
            </a:extLst>
          </p:cNvPr>
          <p:cNvSpPr>
            <a:spLocks noGrp="1"/>
          </p:cNvSpPr>
          <p:nvPr/>
        </p:nvSpPr>
        <p:spPr>
          <a:xfrm>
            <a:off x="9029700" y="3629025"/>
            <a:ext cx="2628900" cy="2305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已确认 RM2,000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已支付 RM0</a:t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待支付 RM2,000</a:t>
            </a:r>
          </a:p>
          <a:p>
            <a:r>
              <a:t/>
            </a:r>
          </a:p>
          <a:p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非单条投稿的奖励。</a:t>
            </a:r>
          </a:p>
        </p:txBody>
      </p:sp>
      <p:sp>
        <p:nvSpPr>
          <p:cNvPr id="18" name="source-link-payments">
            <a:extLst>
              <a:ext uri="{FF2B5EF4-FFF2-40B4-BE49-F238E27FC236}">
                <ns2:creationId id="{5BFA608C-79FF-4BD2-9835-0F23D174A076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352425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4"/>
              </a:rPr>
              <a:t>参考：奖励与付款说明</a:t>
            </a:r>
          </a:p>
        </p:txBody>
      </p:sp>
    </p:spTree>
    <p:extLst>
      <p:ext uri="{BB962C8B-B14F-4D97-AF65-F5344CB8AC3E}">
        <ns5:creationId val="2049501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BC563-0243-420A-9678-1CB442B4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活动报告与复购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27FB0-2FB3-4A2D-9680-E1089C52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2AA1D-D74D-4CF6-9147-14D03AF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虚构已结项示例，曲线仅为累计观看示意。400k非去重人数或马来西亚人数。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8D7E2-4581-4D12-92E0-245EF23C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B76D6-A47E-4E39-ACE9-DF2463E0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111252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C46FB-183E-4120-B1DD-2633E4C2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11087100" cy="399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AFB95-21D8-4E79-95D4-EA10CB1E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11087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99956-E700-47BB-8AF5-5DEA2329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AFB4E-4613-47CE-AC0E-81481EC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 · 结项报告示例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4684C-938D-4F78-B151-B3E1BC3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752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青柠饮料推广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7D726-EA90-439E-86B9-F2C4D12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257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合格观看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DD1A2-0FF8-4A3A-9892-5470D33D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400,000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E1583-FCD1-4AA4-A916-A8048BA2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71825"/>
            <a:ext cx="3257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已支付奖励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6AFA8-C3BA-4F37-B148-1FA09AEB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8615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RM2,000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8B2CE-40B5-4465-BC18-AA4B5E4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71825"/>
            <a:ext cx="2657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Wringy服务费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8AF0-760F-4448-A524-690089B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86150"/>
            <a:ext cx="2657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RM300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762000" y="4210050"/>
          <a:ext xmlns:a="http://schemas.openxmlformats.org/drawingml/2006/main" cx="7400925" cy="1285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d70a2a7a7b4e2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A9760-8903-418E-9577-0623B89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7496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累计合格观看（万次，示意）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67062-C2C2-462A-94CF-296264C4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7410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EA144-FC11-44E8-A59B-99BAA38E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7496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奖励预算：RM2,000 / RM2,000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8fb4ddc864cc9"/>
          <a:srcRect xmlns:a="http://schemas.openxmlformats.org/drawingml/2006/main" l="17677" t="0" r="17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4143375"/>
            <a:ext cx="609600" cy="628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F590A-16C3-425B-8125-75AA2DE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11480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片段01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8A639-292F-4541-AEFC-3D04201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43865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已纳入报告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bed81221f4374"/>
          <a:srcRect xmlns:a="http://schemas.openxmlformats.org/drawingml/2006/main" l="17677" t="0" r="17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5019675"/>
            <a:ext cx="609600" cy="628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45F8D-4C68-4DD6-B15C-883201A0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99110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片段02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8E7CF-4709-4AE9-888E-4332B558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314950"/>
            <a:ext cx="1819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已纳入报告</a:t>
            </a:r>
          </a:p>
        </p:txBody>
      </p:sp>
    </p:spTree>
    <p:extLst>
      <p:ext uri="{BB962C8B-B14F-4D97-AF65-F5344CB8AC3E}">
        <p14:creationId xmlns:p14="http://schemas.microsoft.com/office/powerpoint/2010/main" val="1338177738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2CD3C6DB-2EE4-43B8-99B0-7759799B1D11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马来西亚潜在市场怎么算</a:t>
            </a:r>
          </a:p>
        </p:txBody>
      </p:sp>
      <p:sp>
        <p:nvSpPr>
          <p:cNvPr id="2" name="">
            <a:extLst>
              <a:ext uri="{FF2B5EF4-FFF2-40B4-BE49-F238E27FC236}">
                <ns2:creationId id="{4EAC4E5B-C9D2-46CD-A1FC-7361288C7A1C}"/>
              </a:ext>
            </a:extLst>
          </p:cNvPr>
          <p:cNvSpPr>
            <a:spLocks noGrp="1"/>
          </p:cNvSpPr>
          <p:nvPr/>
        </p:nvSpPr>
        <p:spPr>
          <a:xfrm>
            <a:off x="552450" y="637222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80%、10%及月奖励RM2,000均为待验证假设。电商子集情景，非实测全国市场。</a:t>
            </a:r>
          </a:p>
        </p:txBody>
      </p:sp>
      <p:sp>
        <p:nvSpPr>
          <p:cNvPr id="3" name="">
            <a:extLst>
              <a:ext uri="{FF2B5EF4-FFF2-40B4-BE49-F238E27FC236}">
                <ns2:creationId id="{0A5C41A2-58AE-4ADD-8FB5-E27B587AB440}"/>
              </a:ext>
            </a:extLst>
          </p:cNvPr>
          <p:cNvSpPr>
            <a:spLocks noGrp="1"/>
          </p:cNvSpPr>
          <p:nvPr/>
        </p:nvSpPr>
        <p:spPr>
          <a:xfrm>
            <a:off x="11153775" y="6381750"/>
            <a:ext cx="485775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4" name="">
            <a:extLst>
              <a:ext uri="{FF2B5EF4-FFF2-40B4-BE49-F238E27FC236}">
                <ns2:creationId id="{E09CAD4B-2264-412F-8BBD-4F15748FE9F2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11020425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电商商家子市场估算</a:t>
            </a:r>
          </a:p>
        </p:txBody>
      </p:sp>
      <p:sp>
        <p:nvSpPr>
          <p:cNvPr id="5" name="">
            <a:extLst>
              <a:ext uri="{FF2B5EF4-FFF2-40B4-BE49-F238E27FC236}">
                <ns2:creationId id="{15E4EB9A-31B9-4E04-B956-5A7E11CDF97B}"/>
              </a:ext>
            </a:extLst>
          </p:cNvPr>
          <p:cNvSpPr>
            <a:spLocks noGrp="1"/>
          </p:cNvSpPr>
          <p:nvPr/>
        </p:nvSpPr>
        <p:spPr>
          <a:xfrm>
            <a:off x="552450" y="2124075"/>
            <a:ext cx="352425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DOSM 2022统计</a:t>
            </a:r>
          </a:p>
        </p:txBody>
      </p:sp>
      <p:sp>
        <p:nvSpPr>
          <p:cNvPr id="6" name="">
            <a:extLst>
              <a:ext uri="{FF2B5EF4-FFF2-40B4-BE49-F238E27FC236}">
                <ns2:creationId id="{29CEC389-A040-4BB5-B18B-391BE4E902DF}"/>
              </a:ext>
            </a:extLst>
          </p:cNvPr>
          <p:cNvSpPr>
            <a:spLocks noGrp="1"/>
          </p:cNvSpPr>
          <p:nvPr/>
        </p:nvSpPr>
        <p:spPr>
          <a:xfrm>
            <a:off x="552450" y="2609850"/>
            <a:ext cx="3314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78,236</a:t>
            </a:r>
          </a:p>
        </p:txBody>
      </p:sp>
      <p:sp>
        <p:nvSpPr>
          <p:cNvPr id="7" name="">
            <a:extLst>
              <a:ext uri="{FF2B5EF4-FFF2-40B4-BE49-F238E27FC236}">
                <ns2:creationId id="{27EAE6EF-7DF3-4B96-A19F-F6AF340A2AB7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335280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电商经营单位</a:t>
            </a:r>
          </a:p>
        </p:txBody>
      </p:sp>
      <p:sp>
        <p:nvSpPr>
          <p:cNvPr id="8" name="">
            <a:extLst>
              <a:ext uri="{FF2B5EF4-FFF2-40B4-BE49-F238E27FC236}">
                <ns2:creationId id="{0B3780D8-7EAC-42CB-8F45-077D100CD093}"/>
              </a:ext>
            </a:extLst>
          </p:cNvPr>
          <p:cNvSpPr>
            <a:spLocks noGrp="1"/>
          </p:cNvSpPr>
          <p:nvPr/>
        </p:nvSpPr>
        <p:spPr>
          <a:xfrm>
            <a:off x="3905250" y="26670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9" name="">
            <a:extLst>
              <a:ext uri="{FF2B5EF4-FFF2-40B4-BE49-F238E27FC236}">
                <ns2:creationId id="{3AC5BFE2-EC9C-4E11-AA9C-19F5AF9F2CF0}"/>
              </a:ext>
            </a:extLst>
          </p:cNvPr>
          <p:cNvSpPr>
            <a:spLocks noGrp="1"/>
          </p:cNvSpPr>
          <p:nvPr/>
        </p:nvSpPr>
        <p:spPr>
          <a:xfrm>
            <a:off x="4914900" y="2124075"/>
            <a:ext cx="288607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活跃调整 · 假设</a:t>
            </a:r>
          </a:p>
        </p:txBody>
      </p:sp>
      <p:sp>
        <p:nvSpPr>
          <p:cNvPr id="10" name="">
            <a:extLst>
              <a:ext uri="{FF2B5EF4-FFF2-40B4-BE49-F238E27FC236}">
                <ns2:creationId id="{5FCE3F5B-8793-43FF-A470-BF5A5DA6B3D4}"/>
              </a:ext>
            </a:extLst>
          </p:cNvPr>
          <p:cNvSpPr>
            <a:spLocks noGrp="1"/>
          </p:cNvSpPr>
          <p:nvPr/>
        </p:nvSpPr>
        <p:spPr>
          <a:xfrm>
            <a:off x="4914900" y="2609850"/>
            <a:ext cx="2762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80%</a:t>
            </a:r>
          </a:p>
        </p:txBody>
      </p:sp>
      <p:sp>
        <p:nvSpPr>
          <p:cNvPr id="11" name="">
            <a:extLst>
              <a:ext uri="{FF2B5EF4-FFF2-40B4-BE49-F238E27FC236}">
                <ns2:creationId id="{4A7B3C66-F04D-4E4E-9810-4E2C9C7D1BA2}"/>
              </a:ext>
            </a:extLst>
          </p:cNvPr>
          <p:cNvSpPr>
            <a:spLocks noGrp="1"/>
          </p:cNvSpPr>
          <p:nvPr/>
        </p:nvSpPr>
        <p:spPr>
          <a:xfrm>
            <a:off x="7762875" y="266700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30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</a:t>
            </a:r>
          </a:p>
        </p:txBody>
      </p:sp>
      <p:sp>
        <p:nvSpPr>
          <p:cNvPr id="12" name="">
            <a:extLst>
              <a:ext uri="{FF2B5EF4-FFF2-40B4-BE49-F238E27FC236}">
                <ns2:creationId id="{ADB19FD4-4924-47A6-8003-07F457B40BDD}"/>
              </a:ext>
            </a:extLst>
          </p:cNvPr>
          <p:cNvSpPr>
            <a:spLocks noGrp="1"/>
          </p:cNvSpPr>
          <p:nvPr/>
        </p:nvSpPr>
        <p:spPr>
          <a:xfrm>
            <a:off x="8763000" y="2124075"/>
            <a:ext cx="288607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适配比例 · 假设</a:t>
            </a:r>
          </a:p>
        </p:txBody>
      </p:sp>
      <p:sp>
        <p:nvSpPr>
          <p:cNvPr id="13" name="">
            <a:extLst>
              <a:ext uri="{FF2B5EF4-FFF2-40B4-BE49-F238E27FC236}">
                <ns2:creationId id="{D7D72A25-A73C-4AE5-8BC2-A4BDDA11A388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27622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10%</a:t>
            </a:r>
          </a:p>
        </p:txBody>
      </p:sp>
      <p:sp>
        <p:nvSpPr>
          <p:cNvPr id="14" name="">
            <a:extLst>
              <a:ext uri="{FF2B5EF4-FFF2-40B4-BE49-F238E27FC236}">
                <ns2:creationId id="{DC7C86CD-266F-46A0-A93F-2AE0B6DE85EB}"/>
              </a:ext>
            </a:extLst>
          </p:cNvPr>
          <p:cNvSpPr>
            <a:spLocks noGrp="1"/>
          </p:cNvSpPr>
          <p:nvPr/>
        </p:nvSpPr>
        <p:spPr>
          <a:xfrm>
            <a:off x="552450" y="4029075"/>
            <a:ext cx="11049000" cy="9525"/>
          </a:xfrm>
          <a:prstGeom prst="rect">
            <a:avLst/>
          </a:prstGeom>
          <a:solidFill>
            <a:srgbClr val="DEE0E3"/>
          </a:solidFill>
          <a:ln w="0">
            <a:noFill/>
          </a:ln>
        </p:spPr>
      </p:sp>
      <p:sp>
        <p:nvSpPr>
          <p:cNvPr id="15" name="">
            <a:extLst>
              <a:ext uri="{FF2B5EF4-FFF2-40B4-BE49-F238E27FC236}">
                <ns2:creationId id="{644F862D-4CA1-4275-80DE-14FEEA22AB1A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35433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≈ 6,259</a:t>
            </a:r>
          </a:p>
        </p:txBody>
      </p:sp>
      <p:sp>
        <p:nvSpPr>
          <p:cNvPr id="16" name="">
            <a:extLst>
              <a:ext uri="{FF2B5EF4-FFF2-40B4-BE49-F238E27FC236}">
                <ns2:creationId id="{8C57DC57-A1E4-459D-A60E-9D3AA98A5F47}"/>
              </a:ext>
            </a:extLst>
          </p:cNvPr>
          <p:cNvSpPr>
            <a:spLocks noGrp="1"/>
          </p:cNvSpPr>
          <p:nvPr/>
        </p:nvSpPr>
        <p:spPr>
          <a:xfrm>
            <a:off x="552450" y="5181600"/>
            <a:ext cx="34194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潜在采购方情景</a:t>
            </a:r>
          </a:p>
        </p:txBody>
      </p:sp>
      <p:sp>
        <p:nvSpPr>
          <p:cNvPr id="17" name="">
            <a:extLst>
              <a:ext uri="{FF2B5EF4-FFF2-40B4-BE49-F238E27FC236}">
                <ns2:creationId id="{948B18C2-E4A6-44A4-B867-13D3E3D492DB}"/>
              </a:ext>
            </a:extLst>
          </p:cNvPr>
          <p:cNvSpPr>
            <a:spLocks noGrp="1"/>
          </p:cNvSpPr>
          <p:nvPr/>
        </p:nvSpPr>
        <p:spPr>
          <a:xfrm>
            <a:off x="4486275" y="4419600"/>
            <a:ext cx="3257550" cy="99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 月奖励RM2,000</a:t>
            </a:r>
          </a:p>
          <a:p>
            <a:pPr>
              <a:def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 12个月</a:t>
            </a:r>
          </a:p>
        </p:txBody>
      </p:sp>
      <p:sp>
        <p:nvSpPr>
          <p:cNvPr id="18" name="">
            <a:extLst>
              <a:ext uri="{FF2B5EF4-FFF2-40B4-BE49-F238E27FC236}">
                <ns2:creationId id="{3FDBC4B9-EF45-411D-81AC-713E2F02B74A}"/>
              </a:ext>
            </a:extLst>
          </p:cNvPr>
          <p:cNvSpPr>
            <a:spLocks noGrp="1"/>
          </p:cNvSpPr>
          <p:nvPr/>
        </p:nvSpPr>
        <p:spPr>
          <a:xfrm>
            <a:off x="8181975" y="4419600"/>
            <a:ext cx="352425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7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7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≈ RM150m / 年</a:t>
            </a:r>
          </a:p>
        </p:txBody>
      </p:sp>
      <p:sp>
        <p:nvSpPr>
          <p:cNvPr id="19" name="">
            <a:extLst>
              <a:ext uri="{FF2B5EF4-FFF2-40B4-BE49-F238E27FC236}">
                <ns2:creationId id="{AB0D3202-9CFB-4B73-948C-677B6728FAB2}"/>
              </a:ext>
            </a:extLst>
          </p:cNvPr>
          <p:cNvSpPr>
            <a:spLocks noGrp="1"/>
          </p:cNvSpPr>
          <p:nvPr/>
        </p:nvSpPr>
        <p:spPr>
          <a:xfrm>
            <a:off x="8181975" y="5172075"/>
            <a:ext cx="34575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奖励支出潜力</a:t>
            </a:r>
          </a:p>
        </p:txBody>
      </p:sp>
      <p:sp>
        <p:nvSpPr>
          <p:cNvPr id="20" name="source-link-dosm">
            <a:extLst>
              <a:ext uri="{FF2B5EF4-FFF2-40B4-BE49-F238E27FC236}">
                <ns2:creationId id="{57660268-8AFD-456F-A8D0-69ED4FCE927A}"/>
              </a:ext>
            </a:extLst>
          </p:cNvPr>
          <p:cNvSpPr>
            <a:spLocks noGrp="1"/>
          </p:cNvSpPr>
          <p:nvPr/>
        </p:nvSpPr>
        <p:spPr>
          <a:xfrm>
            <a:off x="552450" y="6096000"/>
            <a:ext cx="4572000" cy="219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73D2A"/>
                </a:solidFill>
                <a:latin typeface="Noto Sans SC"/>
                <a:ea typeface="Noto Sans SC"/>
                <a:cs typeface="Noto Sans SC"/>
                <a:hlinkClick r:id="rIdSource3"/>
              </a:rPr>
              <a:t>来源：DOSM电商经营单位</a:t>
            </a:r>
          </a:p>
        </p:txBody>
      </p:sp>
    </p:spTree>
    <p:extLst>
      <p:ext uri="{BB962C8B-B14F-4D97-AF65-F5344CB8AC3E}">
        <ns4:creationId val="824617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6BA4A-20B1-41D8-B1BD-17AD66B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多少商家，对应多少服务收入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A7A3E-D3B8-490A-8E2C-C22B946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全年持续投放情景，非首轮2–4个月预测或利润，也非已实现目标。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FDE76-609F-4EF4-A34C-044E854B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59539-977D-49D8-9CF3-F2BB4FE1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每商家平均每月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51BFD-0989-498D-84A1-AD88CDA7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已确认奖励 RM2,000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F8A62-CC25-43BA-8414-5DADC92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5172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× 15%服务费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0DBF7-DA5D-455E-A0D5-61A0205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305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= RM300 /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5D35A-F93A-43ED-A298-69501880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5305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30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RM3,600 /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2E96D-7E29-427A-A392-6C110ABE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90675"/>
            <a:ext cx="537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Wringy年服务收入（千RM）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53150" y="2552700"/>
          <a:ext xmlns:a="http://schemas.openxmlformats.org/drawingml/2006/main" cx="5448300" cy="2886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edbf10db704add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D4C51-8BF8-426E-B5A9-4C6DBE16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51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50家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E6249-4810-4464-BE30-A8A49B2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1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100家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151A4-66DD-4C83-9B70-65B328D0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51497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300家</a:t>
            </a:r>
          </a:p>
        </p:txBody>
      </p:sp>
    </p:spTree>
    <p:extLst>
      <p:ext uri="{BB962C8B-B14F-4D97-AF65-F5344CB8AC3E}">
        <p14:creationId xmlns:p14="http://schemas.microsoft.com/office/powerpoint/2010/main" val="612500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5B70B-A74B-48CC-8D72-FED1FF95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商家的目标：真实观看与自然传播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59E67-EF74-4A8F-B6B5-AF312B47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通过内容创作者触达真实受众，让好内容有机会形成病毒式传播。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8CD7A-763E-44B7-844B-8EC26A6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传播路径示意，实际效果待试点验证。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2E268-3907-44F8-B763-B7BB1472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783914dad405c"/>
          <a:srcRect xmlns:a="http://schemas.openxmlformats.org/drawingml/2006/main" l="22776" t="0" r="227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362200"/>
            <a:ext cx="1952625" cy="23907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6EB7A-E42E-4412-B5FE-0CE01E69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授权产品素材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EB510-B2EF-47C8-9924-68929C5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1257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商家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4278D-FACA-4388-81B3-1C08C68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7657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受众观看</a:t>
            </a:r>
          </a:p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与分享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27BA-6D50-425A-B96A-24C8A40D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57425"/>
            <a:ext cx="2457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E3D99-69A6-450E-8848-7921933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2457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B6080-5E12-4D4B-A269-F3B39281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86275"/>
            <a:ext cx="2457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 C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057650" y="2566988"/>
            <a:ext cx="1466850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81950" y="2566988"/>
            <a:ext cx="118110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57650" y="3605213"/>
            <a:ext cx="146685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981950" y="3609975"/>
            <a:ext cx="11811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57650" y="3605213"/>
            <a:ext cx="14668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981950" y="3609975"/>
            <a:ext cx="1181100" cy="1185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0B576-0FCF-4F07-B0FF-B6B89BF0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764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自然发布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4DF45-9AC3-4C44-9DBD-307DD5F9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324475"/>
            <a:ext cx="6581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自然观看（Organic）与分享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01A84-D6B3-4B20-8261-50D8433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AI示意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F62FB-7F97-49A5-AEF5-760D680C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5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C9007-412B-453D-AA5F-E9BFDF0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11058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获客：创办人拜访   /   演示活动   /   付费试点   /   再次投放</a:t>
            </a:r>
          </a:p>
        </p:txBody>
      </p:sp>
    </p:spTree>
    <p:extLst>
      <p:ext uri="{BB962C8B-B14F-4D97-AF65-F5344CB8AC3E}">
        <p14:creationId xmlns:p14="http://schemas.microsoft.com/office/powerpoint/2010/main" val="4678291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64BEA-821F-49FB-8AB5-6E55F468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内容创作者怎样赚钱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D2E88-A0C8-45FA-A341-AAE5E3D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奖励算例须满足活动规则及预算条件，不保证个人收入。图片为AI示意。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35100-F685-4A0F-A26E-8BCDA6AA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d2283aea04b7c"/>
          <a:srcRect xmlns:a="http://schemas.openxmlformats.org/drawingml/2006/main" l="20925" t="0" r="20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71625"/>
            <a:ext cx="3771900" cy="432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19C0B-507F-43EE-9F7C-943482F6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24000"/>
            <a:ext cx="6810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6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20,000次合格观看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72FF9-815A-4FD9-A653-413EFF8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47875"/>
            <a:ext cx="6810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9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可对应 RM100 奖励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6A051-7595-469B-B52F-CAAE0BE9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87655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76189-E56B-43C8-8D0B-028FE075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14650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选活动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10BD2-5055-47B8-B0D3-032D1DF4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60997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cxnSp>
        <p:nvCxnSpPr>
          <p:cNvPr id="28" name=""/>
          <p:cNvCxnSpPr>
            <a:stCxn xmlns:a="http://schemas.openxmlformats.org/drawingml/2006/main" id="7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176838" y="33432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58D7C-3834-42F0-93B5-33E714D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4807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剪辑发布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AA400-E22E-458A-8115-7462B5E4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343400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cxnSp>
        <p:nvCxnSpPr>
          <p:cNvPr id="31" name=""/>
          <p:cNvCxnSpPr>
            <a:stCxn xmlns:a="http://schemas.openxmlformats.org/drawingml/2006/main" id="9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176838" y="40767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70033-077F-41A3-8F11-D37E10FA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381500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提交链接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506A-7C20-4815-9A8D-0500125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76825"/>
            <a:ext cx="466725" cy="466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cxnSp>
        <p:nvCxnSpPr>
          <p:cNvPr id="34" name=""/>
          <p:cNvCxnSpPr>
            <a:stCxn xmlns:a="http://schemas.openxmlformats.org/drawingml/2006/main" id="12" idx="4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176838" y="48101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9FFB3-3650-4F36-A82B-6EA3562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1492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审核后获得奖励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E255E-E4E1-4FF5-BD49-13F6BE92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108489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招募：创作社群、校园及短视频内容创作者</a:t>
            </a:r>
          </a:p>
        </p:txBody>
      </p:sp>
    </p:spTree>
    <p:extLst>
      <p:ext uri="{BB962C8B-B14F-4D97-AF65-F5344CB8AC3E}">
        <p14:creationId xmlns:p14="http://schemas.microsoft.com/office/powerpoint/2010/main" val="1930183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EE492-DF6F-468E-AE44-59339F2A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首轮资金用途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99CAC-499E-42A7-8201-3CECCB49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测算未计入试点收入，商家奖励另付。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64A0-5913-4698-A7A7-7EA5C45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86085-E4A7-47B0-AA82-56D4435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3676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拟议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B35E5-A69C-4EF2-9B0E-DAFE747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591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RM70,000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1D5B0-BCD2-4732-8FD1-3C0713BD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4752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本阶段目标 2–4个月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AF07A-DF66-48B0-94A9-22C148E0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4752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研发与付费试点验证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781675" y="1533525"/>
          <a:ext xmlns:a="http://schemas.openxmlformats.org/drawingml/2006/main" cx="3476625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ad640ae8b9494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78C36-814E-4AA7-8C03-E32BD32E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资金用途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61C84-53FC-4249-B875-8B3C9E3B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CC115-5ED1-4223-AF0B-E1042C3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67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D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E6A82-4CC3-4EDC-BF7B-15165BF1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481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0B736-5B33-43FA-B27B-CAA9914E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19275"/>
            <a:ext cx="2409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50,000  研发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125D0-A1CD-4EAC-8A62-22B533ED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2409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原型与可用Beta</a:t>
            </a:r>
          </a:p>
          <a:p xmlns:a="http://schemas.openxmlformats.org/drawingml/2006/main">
            <a:pPr>
              <a:def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含5,000内部预留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F8956-6B87-472B-B02B-D1659DA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43300"/>
            <a:ext cx="2409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57D7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657D70"/>
                </a:solidFill>
                <a:latin typeface="Noto Sans SC"/>
                <a:ea typeface="Noto Sans SC"/>
                <a:cs typeface="Noto Sans SC"/>
              </a:rPr>
              <a:t>13,620  非研发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B5CFF-16F9-4D81-B3FF-4CB0D75E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24350"/>
            <a:ext cx="2409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6,380  储备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B985D-47F8-49A2-B497-56C4E008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457825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储备含缓冲2,043及取整4,337</a:t>
            </a:r>
          </a:p>
        </p:txBody>
      </p:sp>
    </p:spTree>
    <p:extLst>
      <p:ext uri="{BB962C8B-B14F-4D97-AF65-F5344CB8AC3E}">
        <p14:creationId xmlns:p14="http://schemas.microsoft.com/office/powerpoint/2010/main" val="882912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B283FD-7E31-4972-9B96-2F557E7F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本轮验证，下一轮扩张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081BD-5967-4091-AD33-9A2373D3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本轮验证商业模式是否成立，再为全面扩张筹资。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E71B7-E2A8-4CF4-9511-6E9DC62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下一轮以本轮验证结果为前提，金额与时间待定。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4EB9-6421-4DCE-83F6-DEE933EC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C7D4D-6ADF-4D48-83B7-C8B936F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7362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本轮：验证付费、交付与复购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7D27E-A26E-42B0-B8A6-0FC92CD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2076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原型与Beta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B449B-AA43-41D9-B7A9-EB0517B9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575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付费活动试点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E0CF6-D2E9-48AC-AE34-A2DFBAA4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057525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商家再次投放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28900" y="34099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53075" y="3409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074F2-4E8D-4C0D-A4C9-E087BCA6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71950"/>
            <a:ext cx="52292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内容创作者提交合格内容</a:t>
            </a:r>
          </a:p>
          <a:p xmlns:a="http://schemas.openxmlformats.org/drawingml/2006/main">
            <a:pPr>
              <a:def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并按约获得奖励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8D1F5-14D6-4BF5-A312-AC7CA30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775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商家愿意再付费，审核与付款跟得上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AD9B2-A8A3-4748-BAE0-8B03854B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00A82-31D5-45E8-BF33-397FE72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52650"/>
            <a:ext cx="2390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条件成立后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5EDD9-12BD-4564-B579-2885BF9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76550"/>
            <a:ext cx="2390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22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下一轮</a:t>
            </a:r>
          </a:p>
          <a:p xmlns:a="http://schemas.openxmlformats.org/drawingml/2006/main">
            <a:pPr algn="ctr">
              <a:def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全面扩张</a:t>
            </a:r>
          </a:p>
        </p:txBody>
      </p: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486775" y="34099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2CCB5-A27F-4867-85E9-C5DB0856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48200"/>
            <a:ext cx="23907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增加营销与运营投入</a:t>
            </a:r>
          </a:p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融资金额尚未确定</a:t>
            </a:r>
          </a:p>
        </p:txBody>
      </p:sp>
    </p:spTree>
    <p:extLst>
      <p:ext uri="{BB962C8B-B14F-4D97-AF65-F5344CB8AC3E}">
        <p14:creationId xmlns:p14="http://schemas.microsoft.com/office/powerpoint/2010/main" val="20683269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CBCEE-4DA8-4C34-A85A-BAA9D92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商家与创作者的后续业务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758BD-27D1-4CC4-AE4D-AC7D3E7C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2872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先经营内容奖励业务，再按需求增加工具和收费方式。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37C87-4F73-496C-B7FB-2AF8CB1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72225"/>
            <a:ext cx="1042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未来功能与收费设想，未列入本轮Beta承诺，也未计入当前收入。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C9AAF-6484-404E-9F28-C4BC7D5A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6381750"/>
            <a:ext cx="48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667A9-9AF9-416F-820D-2072D220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22288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Wringy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内容奖励业务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7638F-B99A-4462-BF11-EA713DF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24100"/>
            <a:ext cx="20859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商家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A09F8-2848-4077-B795-A417FEC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10075"/>
            <a:ext cx="20859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173D2A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内容创作者</a:t>
            </a:r>
          </a:p>
        </p:txBody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781300" y="2643188"/>
            <a:ext cx="1047750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81300" y="3481388"/>
            <a:ext cx="1047750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9DF48-F4C9-4141-843B-99A9EDA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5038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网店与经营工具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B7844-70FA-4A68-B9F7-F94CA300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5038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线上店铺、商品与订单管理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D20CD-BE66-44F7-9636-B8953B2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5038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拟议收入：订阅／交易收费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4A341-13DE-4A9A-9DD8-2C1AD0A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5038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73D2A"/>
                </a:solidFill>
                <a:latin typeface="Noto Sans SC"/>
                <a:ea typeface="Noto Sans SC"/>
                <a:cs typeface="Noto Sans SC"/>
              </a:rPr>
              <a:t>创作工具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9BB90-7FC4-47A4-9BB3-CC429DB8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5038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202124"/>
                </a:solidFill>
                <a:latin typeface="Noto Sans SC"/>
                <a:ea typeface="Noto Sans SC"/>
                <a:cs typeface="Noto Sans SC"/>
              </a:rPr>
              <a:t>剪辑、内容管理与变现工具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6B744-1D8C-4D37-A888-BFAF158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5038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60646C"/>
                </a:solidFill>
                <a:latin typeface="Noto Sans SC"/>
                <a:ea typeface="Noto Sans SC"/>
                <a:cs typeface="Noto Sans SC"/>
              </a:rPr>
              <a:t>拟议收入：订阅／增值工具收费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4AD53-00AE-4585-AE0E-105B5666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915025" y="2514600"/>
            <a:ext cx="25717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8231F-721D-4F0E-AED6-A8FAD1DE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434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915025" y="4600575"/>
            <a:ext cx="257175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57D70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615795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2026-09-13T14:43:24.9010000Z</dcterms:created>
  <dcterms:modified xsi:type="dcterms:W3CDTF">2026-09-13T14:43:24.9010000Z</dcterms:modified>
</coreProperties>
</file>